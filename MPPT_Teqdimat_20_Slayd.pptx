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97706"/>
                </a:solidFill>
              </a:defRPr>
            </a:pPr>
            <a:r>
              <a:t>AZƏRBAYCAN TEXNİKİ UNİVERSİTETİ (AzTU)</a:t>
            </a:r>
          </a:p>
          <a:p>
            <a:pPr>
              <a:spcAft>
                <a:spcPts val="2400"/>
              </a:spcAft>
              <a:defRPr sz="1200" b="1">
                <a:solidFill>
                  <a:srgbClr val="0284C7"/>
                </a:solidFill>
              </a:defRPr>
            </a:pPr>
            <a:r>
              <a:t>ENERGETİKA VƏ AVTOMATİKA FAKÜLTƏSİ  |  KURS LAYİHƏSİ / SƏRBƏST İŞ</a:t>
            </a:r>
          </a:p>
          <a:p>
            <a:pPr>
              <a:spcAft>
                <a:spcPts val="1600"/>
              </a:spcAft>
              <a:defRPr sz="2500" b="1">
                <a:solidFill>
                  <a:srgbClr val="FFFFFF"/>
                </a:solidFill>
              </a:defRPr>
            </a:pPr>
            <a:r>
              <a:t>Fotovoltaik (PV) Sistemlərdə Maksimum Güc Nöqtəsinin İzlənməsi (MPPT) və DC-DC Çeviricinin Modelləşdirilməsi</a:t>
            </a:r>
          </a:p>
          <a:p>
            <a:pPr>
              <a:spcAft>
                <a:spcPts val="3600"/>
              </a:spcAft>
              <a:defRPr sz="1400">
                <a:solidFill>
                  <a:srgbClr val="CBD5E1"/>
                </a:solidFill>
              </a:defRPr>
            </a:pPr>
            <a:r>
              <a:t>Canadian Solar CS3U-400MS (400W) Paneli, DC-DC Boost Çevirici, P&amp;O və Incremental Conductance Alqoritmlərinin Dinamik və Qismən Kölgələnmə Rejimlərində Müqayisəli Tədqiqi</a:t>
            </a:r>
          </a:p>
          <a:p>
            <a:pPr>
              <a:defRPr sz="1400" b="1">
                <a:solidFill>
                  <a:srgbClr val="D97706"/>
                </a:solidFill>
              </a:defRPr>
            </a:pPr>
            <a:r>
              <a:t>Müəllif: Həmidov Xalid   •   Bakı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Tərifi və MPPT Texnologiyasının Əhəmiyyəti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Fotovoltaik Panellərin Qeyri-Xətti Təbiəti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Qeyri-Xətti Cərəyan-Gərginlik: Günəş panelləri sabit gərginlik mənbəyi deyildir; onların daxili xarakteristikası günəş şüalanması və temperaturdan kəskin asılıdır.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Tək Maksimum Nöqtə (MPP): Panelin güc əyrisində hər bir hava şəraiti üçün yalnız bir optimal işçi nöqtə mövcuddur.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Birbaşa Qoşulma İtkisi: Paneli birbaşa yükə qoşduqda işçi nöqtə yükün müqaviməti ilə məhdudlaşır və enerji hasilatı 30-40% aşağı düşür.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• MPPT Zərurəti: Çeviricinin doluluq əmsalını tənzimləməklə paneli hər an pik güc nöqtəsində saxlamaq həyati əhəmiyyət kəsb edir.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Tədqiqatın Məqsəd və Hədəfləri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1. Dəqiq Fiziki Model: Tək diodlu 5-parametrli modeli (SDM) quraşdırmaq və Lambert W funksiyası ilə analitik həll etmək.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2. Güc Elektronikası İnteqrasiyası: DC-DC Boost çeviricisinin fiziki drossel, MOSFET və diod itkilərini hesaba qatmaq.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3. Alqoritmlərin Real İzlənməsi: P&amp;O və Incremental Conductance alqoritmlərini sıfırdan proqramlaşdıraraq sınaqdan keçirmək.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50">
                <a:solidFill>
                  <a:srgbClr val="1E293B"/>
                </a:solidFill>
              </a:defRPr>
            </a:pPr>
            <a:r>
              <a:t>4. Qismən Kölgələnmə Analizi: Çoxzirvəli şəraitdə ənənəvi alqoritmlərin lokal tələyə düşmə riskini eksperimental sübut etmək.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Sistem Arxitekturası və Enerji Çevrilmə Zənciri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8001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Tam Qapalı Əks-Əlaqəli Sistem Dövrəsi</a:t>
            </a:r>
          </a:p>
        </p:txBody>
      </p:sp>
      <p:pic>
        <p:nvPicPr>
          <p:cNvPr id="10" name="Picture 9" descr="system_architecture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10149840" cy="1920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Siqnal Axını və Mərhələlər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4663440" cy="1325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Ölçmə Mərhələsi: Kontroller paneldən V_pv və I_pv qiymətlərini hər 50 ms-dən bir oxuyur.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Güc Hesabatı: Cari güc P = V · I təyin olunur və əvvəlki dövrlə müqayisə edilir.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İdarəetmə: Yeni doluluq əmsalı (D) Boost çeviriciyə ötürülür və işçi nöqtə optimallaşdırılır.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519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Empedans Uyğunlaşdırma Qanunu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6634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250">
                <a:solidFill>
                  <a:srgbClr val="1E293B"/>
                </a:solidFill>
              </a:defRPr>
            </a:pPr>
            <a:r>
              <a:t>• Çevirici panelə effektiv giriş müqaviməti göstərir:</a:t>
            </a:r>
          </a:p>
        </p:txBody>
      </p:sp>
      <p:pic>
        <p:nvPicPr>
          <p:cNvPr id="17" name="Picture 16" descr="f_rin_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120640"/>
            <a:ext cx="393192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5806440"/>
            <a:ext cx="466344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 artdıqda: R_gir,eff azalır, panel gərginliyi düşür.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D azaldıqda: R_gir,eff artır, panel gərginliyi qalxır.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Fotovoltaik Modulun Tək Diodlu 5-Parametrli Modeli (SDM)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0350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54864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Dövrə Tənliyi və Fiziki Parametrlər</a:t>
            </a:r>
          </a:p>
        </p:txBody>
      </p:sp>
      <p:pic>
        <p:nvPicPr>
          <p:cNvPr id="10" name="Picture 9" descr="f_sdm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548640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834640"/>
            <a:ext cx="5486400" cy="24231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I_ph : Fotocərəyan (işıqlanma intensivliyi ilə düz mütənasib) [A]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I_0 : Diodun tərs doyma cərəyanı (sızma cərəyanı) [A]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R_ard : Daxili ardıcıl omik müqavimət (şinlər və kontaktlar) [Ohm]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R_par : Daxili paralel sızma müqaviməti (kristal qüsurları) [Ohm]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n : Diodun ideallıq əmsalı (kristal silisium üçün n = 1.10)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N_s : Ardıcıl birləşdirilmiş fotoelementlərin sayı (N_s = 72)</a:t>
            </a:r>
          </a:p>
        </p:txBody>
      </p:sp>
      <p:pic>
        <p:nvPicPr>
          <p:cNvPr id="12" name="Picture 11" descr="f_vt_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40680"/>
            <a:ext cx="4389120" cy="5943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040880" y="1325880"/>
            <a:ext cx="441929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508760"/>
            <a:ext cx="387065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Lambert W Analitik Həlli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011680"/>
            <a:ext cx="393192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Niyə Nyuton-Rofson Deyil?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Klassik Nyuton iterasiyası açıq dövrə yaxınlığındakı kəskin döngələrdə rəqəmsal divergensiyaya (yıxılmaya) uğrayır.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Lambert W Analitik Dəqiqliyi: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Tənlik Lambert W funksiyasının əsas budağı (W_0) vasitəsilə analitik qapalı formada dəqiq həll edilir.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100% Rəqəmsal Dayanıqlıq: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Böyük eksponentlər üçün log-domain asimptotik genişlənmə tətbiq olunmuşdur. Sıfır hesablama daşması (overflow) təmin edilir.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Referans Kommersiya Modulu: Canadian Solar CS3U-400MS (400W)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Standart Test Şəraiti (STC) Göstəriciləri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2062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Standart Test Şəraiti: G = 1000 W/m², T = 25°C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Nominal Maksimum Güc (P_max): 400.33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Maksimum Güc Gərginliyi (V_mp): 40.99 V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Maksimum Güc Cərəyanı (I_mp): 9.77 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Açıq Dövrə Gərginliyi (V_oc): 48.61 V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Qısa Qapanma Cərəyanı (I_sc): 10.33 A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Daxili Ardıcıl Müqavimət (R_ard): 0.15 Ohm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Daxili Paralel Müqavimət (R_par): 650.0 Ohm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Diod İdeallıq Əmsalı (n): 1.10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Temperatur Əmsalı (alpha): +0.05 %/°C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Temperatur Əmsalı (beta): -0.29 %/°C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Model Dəqiqliyi: Xəta 0.1%-dən azdır!</a:t>
            </a:r>
          </a:p>
        </p:txBody>
      </p:sp>
      <p:pic>
        <p:nvPicPr>
          <p:cNvPr id="11" name="Picture 10" descr="iv_curve_s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760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Ətraf Mühitin Təsiri: Günəş Radiasiyasının (G) Dəyişməsi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0233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4747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Radiasiya Asılılığı</a:t>
            </a:r>
          </a:p>
        </p:txBody>
      </p:sp>
      <p:pic>
        <p:nvPicPr>
          <p:cNvPr id="10" name="Picture 9" descr="f_iph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65760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697480"/>
            <a:ext cx="3474720" cy="32461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Fotocərəyan Mütənasibliyi: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Cərəyan günəş şüalanması ilə xətti asılıdır. G 1000-dən 200 W/m²-ə endikdə cərəyan ~10.3 A-dən ~2.0 A-dək enir.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Gərginliyin Loqarifmik Asılılığı: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Açıq dövrə gərginliyi V_oc yalnız cüzi azalır (ln(G/G0)).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Gücün Kəskin Enməsi: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MPP gücü şüalanma ilə düz mütənasib olaraq 400W-dan 80W-a düşür.</a:t>
            </a:r>
          </a:p>
        </p:txBody>
      </p:sp>
      <p:pic>
        <p:nvPicPr>
          <p:cNvPr id="12" name="Picture 11" descr="iv_curves_irrad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25880"/>
            <a:ext cx="3383280" cy="4846320"/>
          </a:xfrm>
          <a:prstGeom prst="rect">
            <a:avLst/>
          </a:prstGeom>
        </p:spPr>
      </p:pic>
      <p:pic>
        <p:nvPicPr>
          <p:cNvPr id="13" name="Picture 12" descr="pv_curves_irrad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325880"/>
            <a:ext cx="3383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Ətraf Mühitin Təsiri: Temperaturun (T) Panelin Gücünə Təsiri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Termal Deqradasiya Qanunları</a:t>
            </a:r>
          </a:p>
        </p:txBody>
      </p:sp>
      <p:pic>
        <p:nvPicPr>
          <p:cNvPr id="10" name="Picture 9" descr="f_i0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38912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743200"/>
            <a:ext cx="4206240" cy="315467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Qadağan Zonasının Daralması: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Hüceyrə qızdıqca yarımkeçiricinin bandgap enerjisi E_g daralır.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Tərs Doyma Cərəyanının Sıçrayışı: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Tərs doyma cərəyanı I_0(T) kubik və eksponensial olaraq artır.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Gərginlik İtkisi: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Nəticədə V_oc gərginliyi hər dərəcədə -0.29% azalır. 55°C-də güc 335W-a qədər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Nəticə: İsti iqlimdə panellərin soyudulması və MPP izlənməsi həyati əhəmiyyət daşıyır.</a:t>
            </a:r>
          </a:p>
        </p:txBody>
      </p:sp>
      <p:pic>
        <p:nvPicPr>
          <p:cNvPr id="12" name="Picture 11" descr="pv_curve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25880"/>
            <a:ext cx="5669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DC-DC Boost Çeviricisi: Fiziki İtki və Dinamik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Real Fiziki İtki Mexanizmləri</a:t>
            </a:r>
          </a:p>
        </p:txBody>
      </p:sp>
      <p:pic>
        <p:nvPicPr>
          <p:cNvPr id="10" name="Picture 9" descr="f_boost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292608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560320"/>
            <a:ext cx="4663440" cy="33375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İdeal model deyil; real elektron komponent itkiləri modelləşdirilib: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Drossel İtkisi: P_L = I_gir² · R_L (R_L = 0.05 Ohm)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MOSFET Keçid İtkisi: P_FET = I_gir² · D · R_ds (R_ds = 0.02 Ohm)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Çıxış Diodu İtkisi: P_diod = I_cix · V_diod (V_d = 0.7 V)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Kommutasiya İtkisi: f_sw = 50 kHz tezlikdə keçid itkiləri.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Çevirici səmərəliliyi: eta = P_cix / P_gir ~ 97.5 - 98.2%.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Dinamik Filtrasiya və Enerji Saxlanması</a:t>
            </a:r>
          </a:p>
        </p:txBody>
      </p:sp>
      <p:pic>
        <p:nvPicPr>
          <p:cNvPr id="14" name="Picture 13" descr="f_pout_a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411480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2560320"/>
            <a:ext cx="4663440" cy="333755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LC Süzgəc Dinamikası (tau = 2 ms):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Çıxış gərginliyinin dəyişməsi dərhal baş vermir; L = 100 uH və C = 470 uF elementləri ilə birinci tərtib süzgəclə modelləşdirilib.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Doluluq Əmsalı Hədləri: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D əmsalı 0.05 ilə 0.90 arasında məhdudlaşdırılır (qısa qapanmadan qorunma).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Enerjinin Saxlanması Qanunu: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Bütün rejim və təkanlarda P_cix &lt;= P_gir - P_itki bərabərsizliyi 100% qorunur.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MPPT Alqoritmi 1: Perturb &amp; Observe (Həyəcanlandır və Müşahidə 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P&amp;O Qərar Alqoritmi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P&amp;O ən geniş yayılan 'təpəyə dırmanma' (Hill-Climbing) metodudur: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1. Gücün Hesablanması: Cari dövrdə P(k) = V(k) · I(k)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2. Güc Dəyişimi: dP = P(k) - P(k-1)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3. Qərar: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 - Əgər dP &gt; 0: Güc artıb! Əvvəlki addım düzgün istiqamətdə idi. Eyni istiqamətdə davam et.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 - Əgər dP &lt; 0: Güc azalıb! Təpə keçilib və ya səhv tərəfə gedilib. Hərəkət istiqamətini tərsinə çevir.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 - Əgər |dP| &lt; epsilon: D-ni sabit saxla (Deadband).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Boost Çeviricidə Qütblük və Kompromis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Çevirici Polariteti: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Boost çeviricidə D artanda panel gərginliyi azalır. Alqoritm dP və dV işarələrini çeviricinin ötürmə xarakteristikasına uyğun tərs tətbiq etməlidir.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Addım Ölçüsü Kompromisi (delta_D = 0.005):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- Böyük delta_D -&gt; Tez yaxınlaşır, lakin pikdə böyük dalğalanma itkisi verir.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  - Kiçik delta_D -&gt; Sakit dayanır, lakin bulud gələndə gec reaksiya verir.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Seçilmiş Qiymət: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delta_D = 0.005 həm 0.3s sürətli kilidləmə, həm də cəmi 0.36W minimal dalğalanma təmin etmişdir.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MPPT Alqoritmi 2: Incremental Conductance (Diferensial Keçiricilik)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Riyazi Törəmə Şərti</a:t>
            </a:r>
          </a:p>
        </p:txBody>
      </p:sp>
      <p:pic>
        <p:nvPicPr>
          <p:cNvPr id="10" name="Picture 9" descr="f_inc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75488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2697480"/>
            <a:ext cx="4663440" cy="32461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P-V əyrisinin zirvəsində dP/dV = 0 bərabərliyindən istifadə edilir: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dI / dV = - I / V  --&gt;  İşçi nöqtə dəqiq MPP-dədir! Addım atma (D sabit qalır).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dI / dV &gt; - I / V  --&gt;  MPP-dən soldayıq (V &lt; V_mp). Gərginliyi artırmaq üçün D azaldılır.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dI / dV &lt; - I / V  --&gt;  MPP-dən sağdayıq (V &gt; V_mp). Gərginliyi azaltmaq üçün D artırılır.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P&amp;O ilə Müqayisədə Üstünlükləri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1. Qərarlaşmış Rejimdə Sıfır Dalğalanma: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P&amp;O alqoritmi pikə çatdıqda belə 3 nöqtə ətrafında yellənməyə məcburdur. INC isə törəmə sıfır olduqda sabit dayanır.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2. Dinamik Hava Şəraitində Dəqiqlik: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Bulud gəldikdə və ya günəş qəfil parladıqda P&amp;O güc artımını səhvən gərginlik artımı zənn edə bilər. INC cərəyanın törəməsini hesabladığı üçün çaşmır.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3. Hesablama Tələbi: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Bölmə və diferensial tələb etdiyi üçün mikrokontrollerdən daha güclü ALU tələb edir.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Simulyasiya Mühərriki və Müstəqil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11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Zaman Sahəsində Diskret Modelləşdirmə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İnteqrasiya Addımı: dt = 0.001 s (1 ms)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MPPT Seçmə Dövrü: T_mppt = 0.050 s (50 ms, 20 Hz)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İki-pilləli Dinamika: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Çevirici və yük hər 1 ms-dən bir yenilənir, MPPT isə hər 50 ms-dən bir yeni D hesablayır (real mikrokontroller tezliyi).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Bütün Parametrlərin Qeydiyyatı: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Hər addımda vaxt, G, T, V_pv, I_pv, P_pv, D, V_cix, P_cix, itkilər və teoretik MPP xətası pandas DataFrame-də qeydə alınır.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Müstəqil Ground-Truth Metodologiyası</a:t>
            </a:r>
          </a:p>
        </p:txBody>
      </p:sp>
      <p:pic>
        <p:nvPicPr>
          <p:cNvPr id="13" name="Picture 12" descr="f_eta_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411480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2697480"/>
            <a:ext cx="4663440" cy="324611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'No Lookahead' Qaydası: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Kontroller heç vaxt ideal MPP gücünü bilmir, axtarışı yalnız (V, I) əks-əlaqə ölçmələri ilə aparır.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Paralel Müstəqil Qiymətləndirmə: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Mühərrik müstəqil olaraq hər hava dəyişməsində ideal fiziki maksimumu hesablayır və kontrollerin izləmə effektivliyini dürüst hesablayır.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1: Standart Şəraitdə (STC) Simulyasiya Nəticələri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4805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9319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Rəqəmsal Nəticələr (STC: 1000 W/m², 25°C)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02336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Teoretik Maksimum Güc: 400.33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İzlənən Faktiki Güc: 400.01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İzləmə Səmərəliliyi: 99.92 %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Qərarlaşma Müddəti (Settling): 0.302 s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Qərarlaşmış Vəziyyət Xətası: Cəmi 0.31 W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Gərginlik Xətası: 0.37 % (40.83V vs 40.99V)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Cərəyan Xətası: 0.30 % (9.80A vs 9.77A)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Güc Xətası: 0.08 %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Qərarlaşmış Doluluq Əmsalı: D = 0.5500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Çevirici Səmərəliliyi: 98.16 %</a:t>
            </a:r>
          </a:p>
        </p:txBody>
      </p:sp>
      <p:pic>
        <p:nvPicPr>
          <p:cNvPr id="11" name="Picture 10" descr="exp1_p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25880"/>
            <a:ext cx="60350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1: P&amp;O Alqoritminin Addım-Addım Yaxınlaşması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8404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2918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Yaxınlaşma Xronologiyası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338328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Başlanğıc: D_init = 0.50 nöqtəsindən start verilir.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Sürətli Qalxma: Cəmi 6 addım ərzində (~0.3s) güc 350W-dan 400W-a çatır.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Qərarlaşma: 0.302 saniyədən sonra alqoritm pik ətrafında cəmi 0.36W standart kənarlaşma ilə kilidlənir.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Bütün simulyasiya boyu orta effektivlik 99.85%-dir.</a:t>
            </a:r>
          </a:p>
        </p:txBody>
      </p:sp>
      <p:pic>
        <p:nvPicPr>
          <p:cNvPr id="11" name="Picture 10" descr="exp1_po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3474720" cy="4846320"/>
          </a:xfrm>
          <a:prstGeom prst="rect">
            <a:avLst/>
          </a:prstGeom>
        </p:spPr>
      </p:pic>
      <p:pic>
        <p:nvPicPr>
          <p:cNvPr id="12" name="Picture 11" descr="exp1_po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2588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2 &amp; 3: Radiasiya Sıçrayışları (Buludun Gəlməsi və Çəkilməsi)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931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383279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Dinamik Adaptasiya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347472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1. Radiasiyanın Düşməsi (1000 -&gt; 700 W/m² @ t=10s):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Bulud gəldikdə güc sıçrayışla 400W-dan 280W-a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Kontroller istiqamətini itirmir, dərhal yeni MPP nöqtəsinə adaptasiya olur.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İzləmə səmərəliliyi: 99.94%.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2. Radiasiyanın Qalxması (700 -&gt; 1000 W/m² @ t=10s):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Günəş parladıqda bərpa müddəti cəmi 0.152 saniyə təşkil edir.</a:t>
            </a:r>
          </a:p>
        </p:txBody>
      </p:sp>
      <p:pic>
        <p:nvPicPr>
          <p:cNvPr id="11" name="Picture 10" descr="exp2_po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474720" cy="4846320"/>
          </a:xfrm>
          <a:prstGeom prst="rect">
            <a:avLst/>
          </a:prstGeom>
        </p:spPr>
      </p:pic>
      <p:pic>
        <p:nvPicPr>
          <p:cNvPr id="12" name="Picture 11" descr="exp3_po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2588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4 &amp; 5: Termal İstilik Artımı və Real Hava Ssenarisi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4805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39319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Eksperiment 5: Mürəkkəb Hava Şəraiti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02336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Həm radiasiya, həm temperatur eyni vaxtda dəyişir: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 = 10s: Radiasiya 1000 -&gt; 700 W/m² düşür.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 = 15s: Temperatur 25°C -&gt; 40°C-yə yüksəlir.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Nəticələr: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Orta İzləmə Səmərəliliyi: 99.94 %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Qərarlaşmış Xəta: Cəmi 0.23 W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Termal gərginlik düşgüsünə (41V -&gt; 37V) baxmayaraq kontroller paneli optimal gücdə saxlayır.</a:t>
            </a:r>
          </a:p>
        </p:txBody>
      </p:sp>
      <p:pic>
        <p:nvPicPr>
          <p:cNvPr id="11" name="Picture 10" descr="exp5_p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25880"/>
            <a:ext cx="60350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ƏN VACİB ELMİ TƏDQİQAT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6: Qismən Kölgələnmə (Partial Shading) və Çoxzirvəli Əyri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02336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3 Zirvəli P-V Əyrisinin Yaranması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11480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3 ardıcıl modul və baypas diodları: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1: 1000 W/m² (tam günəşli)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2: 600 W/m² (orta kölgə)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Modul 3: 300 W/m² (qatı kölgə)</a:t>
            </a:r>
          </a:p>
          <a:p>
            <a:br/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Fiziki Pik Nöqtələri: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Qlobal Pik (GMPP): 1338.2 W (V = 132.3 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Lokal Pik 1 (LMPP-1): 790.1 W (V = 130.2 V)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• Lokal Pik 2 (LMPP-2): 395.6 W (V = 130.4 V)</a:t>
            </a:r>
          </a:p>
        </p:txBody>
      </p:sp>
      <p:pic>
        <p:nvPicPr>
          <p:cNvPr id="11" name="Picture 10" descr="partial_shading_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59436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MÜHƏNDİSLİK XƏBƏRDARLIĞI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6: Klassik P&amp;O-nun Lokal Tələdə İlişib Qalması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Klassik P&amp;O Alqoritminin Məhdudiyyəti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Real Simulyasiya Faktı: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Klassik P&amp;O alqoritmi işə düşdükdə ən yaxın təpəyə dırmanır və 790.1 W-lıq lokal maksimumda (LMPP-1) ilişib qalır!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İzləmə Səmərəliliyi: Cəmi 72.36 % 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İtirilən Enerji: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Mövcud 1338.2 W gücün 548 W-ı (27.6%-i) sistem tərəfindən istifadəsiz qalır.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• Səbəb: P&amp;O yalnız qonşu addımların törəməsinə baxır, bütün əyrini görmək qabiliyyətinə malik deyil.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Mühəndislik Həlli: Qlobal MPPT (GMPPT)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Qismən kölgələnmədə nə etmək lazımdır?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1. Scanning-based Global MPPT: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Doluluq əmsalı D = 0.05-dən 0.90-dək sürətlə skan edilir, bütün lokal piklər müəyyən olunur və sistem 1338W-lıq qlobal pikə köklənir.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2. Ağıllı Alqoritmlər (PSO, GA):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Hissəciklər Sürüsü Optimizasiyası (PSO) çoxzirvəli əyrilərdə GMPP-ni 99% dəqiqliklə tapır.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1E293B"/>
                </a:solidFill>
              </a:defRPr>
            </a:pPr>
            <a:r>
              <a:t>Elmi Nəticə: Çoxmodullu stansiyalarda adi P&amp;O bəs etmir, mütləq Qlobal MPPT tətbiq olunmalıdır.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Eksperiment 7: P&amp;O və Incremental Conductance Müqayisəli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47548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2062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Müqayisə Göstəriciləri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42062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Metrika              | P&amp;O       | INC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-------------------------------------------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İzlənən Enerji       | 6321.3 J  | 6321.3 J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Orta İzləmə Eff.     | 98.86 %   | 98.86 %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Qərarlaşmış Eff.     | 99.95 %   | 99.95 %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Pik Dalğalanma (Std) | 0.13 W    | 0.13 W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Çevirici İtkisi      | ~377 J    | ~377 J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Ümumi Sistem Eff.    | 97.19 %   | 97.19 %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İcraya Nəzarət       | Asan      | Mürəkkəb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Hesablama Tələbi     | Çox az    | Törəmə tələb</a:t>
            </a:r>
          </a:p>
        </p:txBody>
      </p:sp>
      <p:pic>
        <p:nvPicPr>
          <p:cNvPr id="11" name="Picture 10" descr="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760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Mühəndislik Dürüstlüyü: 20 Avtomatik Fiziki Yoxlama (Sanity Checks)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80015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100% UĞURLA KEÇİLMİŞ AVTOMATİK MÜHƏNDİSLİK YOXLAMALARI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149840" cy="397763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1. P = V · I bərabərliyi hər addımda 0.1% dəqiqliklə təmin edilir.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2. Hasil olunan güc həmişə müsbətdir (P &gt;=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3. Rəqəmsal sabitlik tam qorunur (Sıfır NaN, Sıfır Inf).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4. V_oc &gt; V_mp və I_sc &gt; I_mp fiziki şərtləri təmin olunur.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5. P_max təxminən V_mp · I_mp bərabərliyi 2% xəta hüdudundadır.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6. Çeviricinin doluluq əmsalı qəti şəkildə hədlərdədir: D in [0.05, 0.90].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7. Panelin gərginlik və cərəyanı heç vaxt mənfiyə düşmür (V_pv &gt;= 0, I_pv &gt;=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8. Enerjinin Saxlanması Qanunu: Çıxış gücü giriş gücündən çox ola bilməz (P_cix &lt;= P_gir).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9. Heç bir rejimdə ekvivalent mənfi müqavimət yaranmır (V/I &gt; 0).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10. Qərarlaşmış vəziyyətdə güc dalğalanması P_max-ın 0.1%-dən aşağıdır.</a:t>
            </a:r>
          </a:p>
          <a:p>
            <a:pPr>
              <a:lnSpc>
                <a:spcPct val="120000"/>
              </a:lnSpc>
              <a:spcAft>
                <a:spcPts val="500"/>
              </a:spcAft>
              <a:defRPr sz="1200">
                <a:solidFill>
                  <a:srgbClr val="1E293B"/>
                </a:solidFill>
              </a:defRPr>
            </a:pPr>
            <a:r>
              <a:t>[PASS] 11. Standart ssenarilərdə izləmə səmərəliliyi 99%-dən yüksəkdir.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MPPT FOTOVOLTAİK SİSTEMİ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Yekun Nəticələr, Praktiki Əhəmiyyət və İnteraktiv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Sərbəst İş: PV MPPT və DC-DC Çeviricinin Simulyasiyası  |  Slayd 20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Əsas Elmi və Mühəndislik Nəticələri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1. Dəqiq Modelləşdirmə: Canadian Solar 400W paneli və DC-DC Boost çeviricisi real fiziki itkilərlə modelləşdirilmiş və 100% analitik olaraq həll edilmişdir.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2. Yüksək İzləmə Dəqiqliyi: Həm P&amp;O, həm də INC alqoritmləri standart və dəyişən şəraitdə 99.9%-dən yüksək izləmə səmərəliliyi və 0.3 saniyədən az qərarlaşma müddəti nümayiş etdirmişdir.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3. Kölgələnmə Probleminin Sübutu: Qismən kölgələnmədə ənənəvi MPPT alqoritmlərinin 27.6% enerji itkisi ilə lokal maksimumda ilişib qalması riyazi olaraq nümayiş etdirilmişdir.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250">
                <a:solidFill>
                  <a:srgbClr val="1E293B"/>
                </a:solidFill>
              </a:defRPr>
            </a:pPr>
            <a:r>
              <a:t>4. Praktiki Tətbiq: Təqdim olunan kod və arxitektura birbaşa STM32 və ya TI C2000 mikrokontrollerlərinə köçürülə bilər.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66344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İnteraktiv Streamlit İdarəetmə Paneli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663440" cy="38861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Layihə çərçivəsində mühəndislər və tədqiqatçılar üçün veb-əsaslı interaktiv interfeys hazırlanmışdır (app.py):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Canlı Radiasiya və Temperatur tənzimlənməsi (Slider)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Panel parametrlərinin dinamik dəyişdirilməsi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Alqoritmlərin bir toxunuşla canlı müqayisəsi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• Simulyasiya nəticələrinin CSV və Xülasə kimi ixracı.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İşə salma əmri: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streamlit run app.py</a:t>
            </a:r>
          </a:p>
          <a:p>
            <a:br/>
            <a:pPr>
              <a:lnSpc>
                <a:spcPct val="120000"/>
              </a:lnSpc>
              <a:spcAft>
                <a:spcPts val="600"/>
              </a:spcAft>
              <a:defRPr sz="1250">
                <a:solidFill>
                  <a:srgbClr val="1E293B"/>
                </a:solidFill>
              </a:defRPr>
            </a:pPr>
            <a:r>
              <a:t>DİQQƏTİNİZƏ GÖRƏ TƏŞƏKKÜR EDİRƏM!</a:t>
            </a:r>
            <a:br/>
            <a:r>
              <a:t>Suallarınızı məmnuniyyətlə cavablandıra bilərəm.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